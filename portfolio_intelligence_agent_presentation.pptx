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54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ideia central: não vamos construir apenas gráficos; vamos construir um agente de decisão que ajuda o fundo a escolher a melhor opção consoante o objetivo de 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desafio pede valor de negócio, não só técnica. O problema é priorização: se o cliente disser que quer menos risco, a melhor resposta é diferente de maximizar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percurso da demo. Não é preciso sobrecarregar: em 4 passos o utilizador chega a uma recomendação executiva e explicável.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mostrar o funcionamento: menu inicial, escolha de métricas e recomendação. Salientar que a experiência é simples para o utilizador, mas por trás há cálculo quantitativo e explicação automática.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fórmula de forma simples. O score é normalizado para comparar métricas com escalas diferentes. Métricas boas aumentam o score; risco e drawdown reduzem o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serve para a apresentação técnica. Explicar o pipeline: dados CSV entram, calculamos métricas, aplicamos pesos, devolvemos ranking e explicação no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slide enfatizar valor: acelera, reduz subjetividade e torna a recomendação explicável. Isto responde diretamente ao pedido do desafio: valor tangível para mercados financeiros.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frase forte: estamos a entregar um ativo estratégico, não apenas uma ferramenta. Reforçar próximo passo e convidar para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high_tech_digital_illust_batch_1.png"/>
          <p:cNvPicPr>
            <a:picLocks noChangeAspect="1"/>
          </p:cNvPicPr>
          <p:nvPr/>
        </p:nvPicPr>
        <p:blipFill>
          <a:blip r:embed="rId3"/>
          <a:srcRect l="38000" r="6245"/>
          <a:stretch/>
        </p:blipFill>
        <p:spPr>
          <a:xfrm>
            <a:off x="5394960" y="0"/>
            <a:ext cx="67939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5C"/>
                </a:solidFill>
              </a:rPr>
              <a:t>EY AI Challenge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225296"/>
            <a:ext cx="46634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 Alpha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594360" y="246422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8B3C7"/>
                </a:solidFill>
              </a:rPr>
              <a:t>Um agente financeiro que recomenda a melhor opção de investimento com base nas métricas escolhidas pelo utilizador.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DO CLIENTE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3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problema: muitos dados, pouco tempo para decidir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31037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Image 0" descr="/mnt/data/a_clean_modern_isometric_3d_rendered_scene_of_a_d_batch_2.png"/>
          <p:cNvPicPr>
            <a:picLocks noChangeAspect="1"/>
          </p:cNvPicPr>
          <p:nvPr/>
        </p:nvPicPr>
        <p:blipFill>
          <a:blip r:embed="rId3"/>
          <a:srcRect l="10000" t="10000" r="21795" b="16000"/>
          <a:stretch/>
        </p:blipFill>
        <p:spPr>
          <a:xfrm>
            <a:off x="6400800" y="1051560"/>
            <a:ext cx="516636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977864"/>
            <a:ext cx="201168" cy="0"/>
          </a:xfrm>
          <a:prstGeom prst="line">
            <a:avLst/>
          </a:prstGeom>
          <a:noFill/>
          <a:ln w="35560">
            <a:solidFill>
              <a:srgbClr val="FFD15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859536" y="19047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F7FAFC"/>
                </a:solidFill>
              </a:rPr>
              <a:t>Decisões dependem do objetivo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859536" y="22156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B3C7"/>
                </a:solidFill>
              </a:rPr>
              <a:t>Retorno, risco, liquidez e momentum apontam para escolhas diferentes.</a:t>
            </a:r>
            <a:endParaRPr lang="en-US" sz="1040" dirty="0"/>
          </a:p>
        </p:txBody>
      </p:sp>
      <p:sp>
        <p:nvSpPr>
          <p:cNvPr id="9" name="Shape 6"/>
          <p:cNvSpPr/>
          <p:nvPr/>
        </p:nvSpPr>
        <p:spPr>
          <a:xfrm>
            <a:off x="566928" y="3047712"/>
            <a:ext cx="201168" cy="0"/>
          </a:xfrm>
          <a:prstGeom prst="line">
            <a:avLst/>
          </a:prstGeom>
          <a:noFill/>
          <a:ln w="35560">
            <a:solidFill>
              <a:srgbClr val="2CE3D4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859536" y="2974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F7FAFC"/>
                </a:solidFill>
              </a:rPr>
              <a:t>Análise manual é lenta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859536" y="32854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B3C7"/>
                </a:solidFill>
              </a:rPr>
              <a:t>Comparar 11 ativos e múltiplas métricas consome tempo da equipa.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566928" y="4117560"/>
            <a:ext cx="201168" cy="0"/>
          </a:xfrm>
          <a:prstGeom prst="line">
            <a:avLst/>
          </a:prstGeom>
          <a:noFill/>
          <a:ln w="35560">
            <a:solidFill>
              <a:srgbClr val="3BA0FF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859536" y="40444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F7FAFC"/>
                </a:solidFill>
              </a:rPr>
              <a:t>Explicabilidade é crítica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859536" y="4355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B3C7"/>
                </a:solidFill>
              </a:rPr>
              <a:t>O gestor precisa de perceber por que razão um ativo foi recomendado.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6537960" y="4572000"/>
            <a:ext cx="4800600" cy="731520"/>
          </a:xfrm>
          <a:prstGeom prst="roundRect">
            <a:avLst>
              <a:gd name="adj" fmla="val 10000"/>
            </a:avLst>
          </a:prstGeom>
          <a:solidFill>
            <a:srgbClr val="10243D">
              <a:alpha val="96000"/>
            </a:srgbClr>
          </a:solidFill>
          <a:ln w="12700">
            <a:solidFill>
              <a:srgbClr val="FFD15C">
                <a:alpha val="50000"/>
              </a:srgbClr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7FAFC"/>
                </a:solidFill>
              </a:rPr>
              <a:t>O nosso foco: reduzir o tempo entre “qual é o objetivo?” e “qual é a melhor decisão?”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2B3E5F">
                <a:alpha val="7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653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B3C7"/>
                </a:solidFill>
              </a:rPr>
              <a:t>Portfolio Intelligence Agent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84280" y="6565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3C7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Experiência do utilizador: da intenção à recomendação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95728" y="3383280"/>
            <a:ext cx="987552" cy="0"/>
          </a:xfrm>
          <a:prstGeom prst="line">
            <a:avLst/>
          </a:prstGeom>
          <a:noFill/>
          <a:ln w="22860">
            <a:solidFill>
              <a:srgbClr val="FFD15C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93208" y="3383280"/>
            <a:ext cx="987552" cy="0"/>
          </a:xfrm>
          <a:prstGeom prst="line">
            <a:avLst/>
          </a:prstGeom>
          <a:noFill/>
          <a:ln w="22860">
            <a:solidFill>
              <a:srgbClr val="FFD15C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90688" y="3383280"/>
            <a:ext cx="987552" cy="0"/>
          </a:xfrm>
          <a:prstGeom prst="line">
            <a:avLst/>
          </a:prstGeom>
          <a:noFill/>
          <a:ln w="22860">
            <a:solidFill>
              <a:srgbClr val="FFD15C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530352" cy="530352"/>
          </a:xfrm>
          <a:prstGeom prst="ellipse">
            <a:avLst/>
          </a:prstGeom>
          <a:solidFill>
            <a:srgbClr val="10243D"/>
          </a:solidFill>
          <a:ln w="15240">
            <a:solidFill>
              <a:srgbClr val="FFD1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5C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9352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7FAFC"/>
                </a:solidFill>
              </a:rPr>
              <a:t>Escolher objetivo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1508760" y="3319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A8B3C7"/>
                </a:solidFill>
              </a:rPr>
              <a:t>Retorno, risco, Sharpe, drawdown, volume ou combinação.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520440" y="2971800"/>
            <a:ext cx="530352" cy="530352"/>
          </a:xfrm>
          <a:prstGeom prst="ellipse">
            <a:avLst/>
          </a:prstGeom>
          <a:solidFill>
            <a:srgbClr val="10243D"/>
          </a:solidFill>
          <a:ln w="15240">
            <a:solidFill>
              <a:srgbClr val="FFD1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5C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29352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7FAFC"/>
                </a:solidFill>
              </a:rPr>
              <a:t>Calcular métricas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4206240" y="3319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A8B3C7"/>
                </a:solidFill>
              </a:rPr>
              <a:t>O backend processa CSVs Yahoo Finance e normaliza resultados.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217920" y="2971800"/>
            <a:ext cx="530352" cy="530352"/>
          </a:xfrm>
          <a:prstGeom prst="ellipse">
            <a:avLst/>
          </a:prstGeom>
          <a:solidFill>
            <a:srgbClr val="10243D"/>
          </a:solidFill>
          <a:ln w="15240">
            <a:solidFill>
              <a:srgbClr val="FFD1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5C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29352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7FAFC"/>
                </a:solidFill>
              </a:rPr>
              <a:t>Rankear ativos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6903720" y="3319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A8B3C7"/>
                </a:solidFill>
              </a:rPr>
              <a:t>Score composto adaptado às preferências selecionadas.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915400" y="2971800"/>
            <a:ext cx="530352" cy="530352"/>
          </a:xfrm>
          <a:prstGeom prst="ellipse">
            <a:avLst/>
          </a:prstGeom>
          <a:solidFill>
            <a:srgbClr val="FFD15C"/>
          </a:solidFill>
          <a:ln w="15240">
            <a:solidFill>
              <a:srgbClr val="FFD1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0" y="29352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7FAFC"/>
                </a:solidFill>
              </a:rPr>
              <a:t>Explicar decisão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9601200" y="3319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A8B3C7"/>
                </a:solidFill>
              </a:rPr>
              <a:t>Resposta clara: melhor ativo, razão, riscos e próximos passos.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68680" y="1417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5C"/>
                </a:solidFill>
              </a:rPr>
              <a:t>Exemplo de pergunta do utilizador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175564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7FAFC"/>
                </a:solidFill>
              </a:rPr>
              <a:t>“Quero a </a:t>
            </a:r>
            <a:r>
              <a:rPr lang="en-US" sz="1900" b="1" dirty="0" err="1">
                <a:solidFill>
                  <a:srgbClr val="F7FAFC"/>
                </a:solidFill>
              </a:rPr>
              <a:t>opção</a:t>
            </a:r>
            <a:r>
              <a:rPr lang="en-US" sz="1900" b="1" dirty="0">
                <a:solidFill>
                  <a:srgbClr val="F7FAFC"/>
                </a:solidFill>
              </a:rPr>
              <a:t> com </a:t>
            </a:r>
            <a:r>
              <a:rPr lang="en-US" sz="1900" b="1" dirty="0" err="1">
                <a:solidFill>
                  <a:srgbClr val="F7FAFC"/>
                </a:solidFill>
              </a:rPr>
              <a:t>melhor</a:t>
            </a:r>
            <a:r>
              <a:rPr lang="en-US" sz="1900" b="1" dirty="0">
                <a:solidFill>
                  <a:srgbClr val="F7FAFC"/>
                </a:solidFill>
              </a:rPr>
              <a:t> </a:t>
            </a:r>
            <a:r>
              <a:rPr lang="en-US" sz="1900" b="1" dirty="0" err="1">
                <a:solidFill>
                  <a:srgbClr val="F7FAFC"/>
                </a:solidFill>
              </a:rPr>
              <a:t>equilíbrio</a:t>
            </a:r>
            <a:r>
              <a:rPr lang="en-US" sz="1900" b="1" dirty="0">
                <a:solidFill>
                  <a:srgbClr val="F7FAFC"/>
                </a:solidFill>
              </a:rPr>
              <a:t> entre </a:t>
            </a:r>
            <a:r>
              <a:rPr lang="en-US" sz="1900" b="1" dirty="0" err="1">
                <a:solidFill>
                  <a:srgbClr val="F7FAFC"/>
                </a:solidFill>
              </a:rPr>
              <a:t>retorno</a:t>
            </a:r>
            <a:r>
              <a:rPr lang="en-US" sz="1900" b="1" dirty="0">
                <a:solidFill>
                  <a:srgbClr val="F7FAFC"/>
                </a:solidFill>
              </a:rPr>
              <a:t> e </a:t>
            </a:r>
            <a:r>
              <a:rPr lang="en-US" sz="1900" b="1" dirty="0" err="1">
                <a:solidFill>
                  <a:srgbClr val="F7FAFC"/>
                </a:solidFill>
              </a:rPr>
              <a:t>risco</a:t>
            </a:r>
            <a:r>
              <a:rPr lang="en-US" sz="1900" b="1" dirty="0">
                <a:solidFill>
                  <a:srgbClr val="F7FAFC"/>
                </a:solidFill>
              </a:rPr>
              <a:t>.”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92240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E3D4"/>
                </a:solidFill>
              </a:rPr>
              <a:t>Resposta esperada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7556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7FAFC"/>
                </a:solidFill>
              </a:rPr>
              <a:t>“Recomendo MSFT: score 87/100, Sharpe elevado, drawdown controlado e momentum positivo.”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2B3E5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653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B3C7"/>
                </a:solidFill>
              </a:rPr>
              <a:t>Portfolio Intelligence Agent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84280" y="6565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3C7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solução: um agente orientado por métricas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749808" y="57287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Um </a:t>
            </a:r>
            <a:r>
              <a:rPr lang="en-US" sz="1500" b="1" dirty="0" err="1">
                <a:solidFill>
                  <a:srgbClr val="F7FAFC"/>
                </a:solidFill>
              </a:rPr>
              <a:t>agente</a:t>
            </a:r>
            <a:r>
              <a:rPr lang="en-US" sz="1500" b="1" dirty="0">
                <a:solidFill>
                  <a:srgbClr val="F7FAFC"/>
                </a:solidFill>
              </a:rPr>
              <a:t> de portfolio </a:t>
            </a:r>
            <a:r>
              <a:rPr lang="en-US" sz="1500" b="1" dirty="0" err="1">
                <a:solidFill>
                  <a:srgbClr val="F7FAFC"/>
                </a:solidFill>
              </a:rPr>
              <a:t>converscional</a:t>
            </a:r>
            <a:r>
              <a:rPr lang="en-US" sz="1500" b="1" dirty="0">
                <a:solidFill>
                  <a:srgbClr val="F7FAFC"/>
                </a:solidFill>
              </a:rPr>
              <a:t> </a:t>
            </a:r>
            <a:r>
              <a:rPr lang="en-US" sz="1500" b="1" dirty="0" err="1">
                <a:solidFill>
                  <a:srgbClr val="F7FAFC"/>
                </a:solidFill>
              </a:rPr>
              <a:t>que</a:t>
            </a:r>
            <a:r>
              <a:rPr lang="en-US" sz="1500" b="1" dirty="0">
                <a:solidFill>
                  <a:srgbClr val="F7FAFC"/>
                </a:solidFill>
              </a:rPr>
              <a:t> </a:t>
            </a:r>
            <a:r>
              <a:rPr lang="en-US" sz="1500" b="1" dirty="0" err="1">
                <a:solidFill>
                  <a:srgbClr val="F7FAFC"/>
                </a:solidFill>
              </a:rPr>
              <a:t>propões</a:t>
            </a:r>
            <a:r>
              <a:rPr lang="en-US" sz="1500" b="1" dirty="0">
                <a:solidFill>
                  <a:srgbClr val="F7FAFC"/>
                </a:solidFill>
              </a:rPr>
              <a:t>, </a:t>
            </a:r>
            <a:r>
              <a:rPr lang="en-US" sz="1500" b="1" dirty="0" err="1">
                <a:solidFill>
                  <a:srgbClr val="F7FAFC"/>
                </a:solidFill>
              </a:rPr>
              <a:t>explica</a:t>
            </a:r>
            <a:r>
              <a:rPr lang="en-US" sz="1500" b="1" dirty="0">
                <a:solidFill>
                  <a:srgbClr val="F7FAFC"/>
                </a:solidFill>
              </a:rPr>
              <a:t> e </a:t>
            </a:r>
            <a:r>
              <a:rPr lang="en-US" sz="1500" b="1" dirty="0" err="1">
                <a:solidFill>
                  <a:srgbClr val="F7FAFC"/>
                </a:solidFill>
              </a:rPr>
              <a:t>defende</a:t>
            </a:r>
            <a:r>
              <a:rPr lang="en-US" sz="1500" b="1" dirty="0">
                <a:solidFill>
                  <a:srgbClr val="F7FAFC"/>
                </a:solidFill>
              </a:rPr>
              <a:t> </a:t>
            </a:r>
            <a:r>
              <a:rPr lang="en-US" sz="1500" b="1" dirty="0" err="1">
                <a:solidFill>
                  <a:srgbClr val="F7FAFC"/>
                </a:solidFill>
              </a:rPr>
              <a:t>decisõe</a:t>
            </a:r>
            <a:r>
              <a:rPr lang="en-US" sz="1500" b="1" dirty="0">
                <a:solidFill>
                  <a:srgbClr val="F7FAFC"/>
                </a:solidFill>
              </a:rPr>
              <a:t> </a:t>
            </a:r>
            <a:r>
              <a:rPr lang="en-US" sz="1500" b="1" dirty="0" err="1">
                <a:solidFill>
                  <a:srgbClr val="F7FAFC"/>
                </a:solidFill>
              </a:rPr>
              <a:t>dentro</a:t>
            </a:r>
            <a:r>
              <a:rPr lang="en-US" sz="1500" b="1" dirty="0">
                <a:solidFill>
                  <a:srgbClr val="F7FAFC"/>
                </a:solidFill>
              </a:rPr>
              <a:t> do </a:t>
            </a:r>
            <a:r>
              <a:rPr lang="en-US" sz="1500" b="1" dirty="0" err="1">
                <a:solidFill>
                  <a:srgbClr val="F7FAFC"/>
                </a:solidFill>
              </a:rPr>
              <a:t>universo</a:t>
            </a:r>
            <a:r>
              <a:rPr lang="en-US" sz="1500" b="1" dirty="0">
                <a:solidFill>
                  <a:srgbClr val="F7FAFC"/>
                </a:solidFill>
              </a:rPr>
              <a:t> </a:t>
            </a:r>
            <a:r>
              <a:rPr lang="en-US" sz="1500" b="1" dirty="0" err="1">
                <a:solidFill>
                  <a:srgbClr val="F7FAFC"/>
                </a:solidFill>
              </a:rPr>
              <a:t>investível</a:t>
            </a:r>
            <a:r>
              <a:rPr lang="en-US" sz="1500" b="1" dirty="0">
                <a:solidFill>
                  <a:srgbClr val="F7FAFC"/>
                </a:solidFill>
              </a:rPr>
              <a:t> do </a:t>
            </a:r>
            <a:r>
              <a:rPr lang="en-US" sz="1500" b="1" dirty="0" err="1">
                <a:solidFill>
                  <a:srgbClr val="F7FAFC"/>
                </a:solidFill>
              </a:rPr>
              <a:t>utilizador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2B3E5F">
                <a:alpha val="7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65653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B3C7"/>
                </a:solidFill>
              </a:rPr>
              <a:t>Portfolio Intelligence Agent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384280" y="6565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3C7"/>
                </a:solidFill>
              </a:rPr>
              <a:t>03</a:t>
            </a:r>
            <a:endParaRPr lang="en-US" sz="750" dirty="0"/>
          </a:p>
        </p:txBody>
      </p:sp>
      <p:sp>
        <p:nvSpPr>
          <p:cNvPr id="44" name="AutoShape 2">
            <a:extLst>
              <a:ext uri="{FF2B5EF4-FFF2-40B4-BE49-F238E27FC236}">
                <a16:creationId xmlns:a16="http://schemas.microsoft.com/office/drawing/2014/main" id="{CDD894B8-0890-EC63-6F3D-5BBF19A25F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191774" cy="319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6B03C12-2E06-A147-9569-979A93EB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029" y="1324248"/>
            <a:ext cx="8115435" cy="4083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QUANTITATIVA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 de decisão: scoring adaptado à prioridade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O agente não dá sempre a mesma resposta: adapta o ranking às métricas selecionadas.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0243D">
              <a:alpha val="95000"/>
            </a:srgbClr>
          </a:solidFill>
          <a:ln w="12700">
            <a:solidFill>
              <a:srgbClr val="FFD15C">
                <a:alpha val="7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F7FAFC"/>
                </a:solidFill>
              </a:rPr>
              <a:t>Score = w₁·</a:t>
            </a:r>
            <a:r>
              <a:rPr lang="en-US" sz="1700" b="1" dirty="0" err="1">
                <a:solidFill>
                  <a:srgbClr val="F7FAFC"/>
                </a:solidFill>
              </a:rPr>
              <a:t>Retorno</a:t>
            </a:r>
            <a:r>
              <a:rPr lang="en-US" sz="1700" b="1" dirty="0">
                <a:solidFill>
                  <a:srgbClr val="F7FAFC"/>
                </a:solidFill>
              </a:rPr>
              <a:t> (5 </a:t>
            </a:r>
            <a:r>
              <a:rPr lang="en-US" sz="1700" b="1" dirty="0" err="1">
                <a:solidFill>
                  <a:srgbClr val="F7FAFC"/>
                </a:solidFill>
              </a:rPr>
              <a:t>anos</a:t>
            </a:r>
            <a:r>
              <a:rPr lang="en-US" sz="1700" b="1" dirty="0">
                <a:solidFill>
                  <a:srgbClr val="F7FAFC"/>
                </a:solidFill>
              </a:rPr>
              <a:t>) + w₂·Sharpe + w₃· </a:t>
            </a:r>
            <a:r>
              <a:rPr lang="en-US" sz="1700" b="1" dirty="0" err="1">
                <a:solidFill>
                  <a:srgbClr val="F7FAFC"/>
                </a:solidFill>
              </a:rPr>
              <a:t>Retorno</a:t>
            </a:r>
            <a:r>
              <a:rPr lang="en-US" sz="1700" b="1" dirty="0">
                <a:solidFill>
                  <a:srgbClr val="F7FAFC"/>
                </a:solidFill>
              </a:rPr>
              <a:t> (1 </a:t>
            </a:r>
            <a:r>
              <a:rPr lang="en-US" sz="1700" b="1" dirty="0" err="1">
                <a:solidFill>
                  <a:srgbClr val="F7FAFC"/>
                </a:solidFill>
              </a:rPr>
              <a:t>ano</a:t>
            </a:r>
            <a:r>
              <a:rPr lang="en-US" sz="1700" b="1" dirty="0">
                <a:solidFill>
                  <a:srgbClr val="F7FAFC"/>
                </a:solidFill>
              </a:rPr>
              <a:t>) + w₄·Momentum(30d)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FAFC"/>
                </a:solidFill>
              </a:rPr>
              <a:t>Retorno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40280" y="3044952"/>
            <a:ext cx="1783080" cy="91440"/>
          </a:xfrm>
          <a:prstGeom prst="rect">
            <a:avLst/>
          </a:prstGeom>
          <a:solidFill>
            <a:srgbClr val="293B59"/>
          </a:solidFill>
          <a:ln w="12700">
            <a:solidFill>
              <a:srgbClr val="293B5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3044952"/>
            <a:ext cx="1462126" cy="91440"/>
          </a:xfrm>
          <a:prstGeom prst="rect">
            <a:avLst/>
          </a:prstGeom>
          <a:solidFill>
            <a:srgbClr val="FFD15C"/>
          </a:solidFill>
          <a:ln w="12700">
            <a:solidFill>
              <a:srgbClr val="FFD15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2232" y="29626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8B3C7"/>
                </a:solidFill>
              </a:rPr>
              <a:t>82%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617720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FAFC"/>
                </a:solidFill>
              </a:rPr>
              <a:t>Sharpe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3044952"/>
            <a:ext cx="1783080" cy="91440"/>
          </a:xfrm>
          <a:prstGeom prst="rect">
            <a:avLst/>
          </a:prstGeom>
          <a:solidFill>
            <a:srgbClr val="293B59"/>
          </a:solidFill>
          <a:ln w="12700">
            <a:solidFill>
              <a:srgbClr val="293B5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89320" y="3044952"/>
            <a:ext cx="1390802" cy="91440"/>
          </a:xfrm>
          <a:prstGeom prst="rect">
            <a:avLst/>
          </a:prstGeom>
          <a:solidFill>
            <a:srgbClr val="3BA0FF"/>
          </a:solidFill>
          <a:ln w="12700">
            <a:solidFill>
              <a:srgbClr val="3BA0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91272" y="29626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8B3C7"/>
                </a:solidFill>
              </a:rPr>
              <a:t>78%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366760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FAFC"/>
                </a:solidFill>
              </a:rPr>
              <a:t>Momentum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38360" y="3044952"/>
            <a:ext cx="1783080" cy="91440"/>
          </a:xfrm>
          <a:prstGeom prst="rect">
            <a:avLst/>
          </a:prstGeom>
          <a:solidFill>
            <a:srgbClr val="293B59"/>
          </a:solidFill>
          <a:ln w="12700">
            <a:solidFill>
              <a:srgbClr val="293B5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38360" y="3044952"/>
            <a:ext cx="1069848" cy="91440"/>
          </a:xfrm>
          <a:prstGeom prst="rect">
            <a:avLst/>
          </a:prstGeom>
          <a:solidFill>
            <a:srgbClr val="2CE3D4"/>
          </a:solidFill>
          <a:ln w="12700">
            <a:solidFill>
              <a:srgbClr val="2CE3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40312" y="29626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8B3C7"/>
                </a:solidFill>
              </a:rPr>
              <a:t>60%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86868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5C"/>
                </a:solidFill>
              </a:rPr>
              <a:t>Métricas sugeridas para o MVP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56144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7FAFC"/>
                </a:solidFill>
              </a:rPr>
              <a:t>Retorno acumulado • Sharpe Ratio • Momentum • Volume médio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2B3E5F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653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B3C7"/>
                </a:solidFill>
              </a:rPr>
              <a:t>Portfolio Intelligence Agent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384280" y="6565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3C7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 POR DENTRO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técnica do agente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441448" y="2423160"/>
            <a:ext cx="256032" cy="0"/>
          </a:xfrm>
          <a:prstGeom prst="line">
            <a:avLst/>
          </a:prstGeom>
          <a:noFill/>
          <a:ln w="15240">
            <a:solidFill>
              <a:srgbClr val="A8B3C7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54880" y="2423160"/>
            <a:ext cx="274320" cy="0"/>
          </a:xfrm>
          <a:prstGeom prst="line">
            <a:avLst/>
          </a:prstGeom>
          <a:noFill/>
          <a:ln w="15240">
            <a:solidFill>
              <a:srgbClr val="A8B3C7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86600" y="2423160"/>
            <a:ext cx="265176" cy="0"/>
          </a:xfrm>
          <a:prstGeom prst="line">
            <a:avLst/>
          </a:prstGeom>
          <a:noFill/>
          <a:ln w="15240">
            <a:solidFill>
              <a:srgbClr val="A8B3C7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409176" y="2423160"/>
            <a:ext cx="265176" cy="0"/>
          </a:xfrm>
          <a:prstGeom prst="line">
            <a:avLst/>
          </a:prstGeom>
          <a:noFill/>
          <a:ln w="15240">
            <a:solidFill>
              <a:srgbClr val="A8B3C7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58368" y="1965960"/>
            <a:ext cx="1737360" cy="896112"/>
          </a:xfrm>
          <a:prstGeom prst="roundRect">
            <a:avLst>
              <a:gd name="adj" fmla="val 9184"/>
            </a:avLst>
          </a:prstGeom>
          <a:solidFill>
            <a:srgbClr val="10243D">
              <a:alpha val="97000"/>
            </a:srgbClr>
          </a:solidFill>
          <a:ln w="13970">
            <a:solidFill>
              <a:srgbClr val="3BA0FF">
                <a:alpha val="7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CSV data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Yahoo Finance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2788920" y="196596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0243D">
              <a:alpha val="97000"/>
            </a:srgbClr>
          </a:solidFill>
          <a:ln w="13970">
            <a:solidFill>
              <a:srgbClr val="2CE3D4">
                <a:alpha val="7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Data processor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Python / pandas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5120640" y="196596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0243D">
              <a:alpha val="97000"/>
            </a:srgbClr>
          </a:solidFill>
          <a:ln w="13970">
            <a:solidFill>
              <a:srgbClr val="FFD15C">
                <a:alpha val="7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Metric engine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returns + risk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7443216" y="196596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0243D">
              <a:alpha val="97000"/>
            </a:srgbClr>
          </a:solidFill>
          <a:ln w="13970">
            <a:solidFill>
              <a:srgbClr val="52D273">
                <a:alpha val="7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Ranking agent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weights + rules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9765792" y="1965960"/>
            <a:ext cx="1737360" cy="896112"/>
          </a:xfrm>
          <a:prstGeom prst="roundRect">
            <a:avLst>
              <a:gd name="adj" fmla="val 9184"/>
            </a:avLst>
          </a:prstGeom>
          <a:solidFill>
            <a:srgbClr val="10243D">
              <a:alpha val="97000"/>
            </a:srgbClr>
          </a:solidFill>
          <a:ln w="13970">
            <a:solidFill>
              <a:srgbClr val="FFD15C">
                <a:alpha val="7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Frontend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b="1" dirty="0">
                <a:solidFill>
                  <a:srgbClr val="F7FAFC"/>
                </a:solidFill>
              </a:rPr>
              <a:t>menu + demo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777240" y="3547872"/>
            <a:ext cx="201168" cy="0"/>
          </a:xfrm>
          <a:prstGeom prst="line">
            <a:avLst/>
          </a:prstGeom>
          <a:noFill/>
          <a:ln w="35560">
            <a:solidFill>
              <a:srgbClr val="3BA0FF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69848" y="3474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F7FAFC"/>
                </a:solidFill>
              </a:rPr>
              <a:t>Inputs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1069848" y="37856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B3C7"/>
                </a:solidFill>
              </a:rPr>
              <a:t>AMZN, AAPL, GOOGL, MSFT, UDMY, NXE, SPY, CDR.WA, EH, BTC-USD, ETH-USD.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77240" y="4507992"/>
            <a:ext cx="201168" cy="0"/>
          </a:xfrm>
          <a:prstGeom prst="line">
            <a:avLst/>
          </a:prstGeom>
          <a:noFill/>
          <a:ln w="35560">
            <a:solidFill>
              <a:srgbClr val="FFD15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069848" y="4434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F7FAFC"/>
                </a:solidFill>
              </a:rPr>
              <a:t>Outputs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1069848" y="47457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B3C7"/>
                </a:solidFill>
              </a:rPr>
              <a:t>Ranking, melhor ativo, score, gráficos e explicação executiva.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446520" y="3547872"/>
            <a:ext cx="201168" cy="0"/>
          </a:xfrm>
          <a:prstGeom prst="line">
            <a:avLst/>
          </a:prstGeom>
          <a:noFill/>
          <a:ln w="35560">
            <a:solidFill>
              <a:srgbClr val="2CE3D4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739128" y="34747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F7FAFC"/>
                </a:solidFill>
              </a:rPr>
              <a:t>Stack provável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6739128" y="3785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B3C7"/>
                </a:solidFill>
              </a:rPr>
              <a:t>Python + pandas/numpy + streamlit ou flask + plotly/matplotlib.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446520" y="4507992"/>
            <a:ext cx="201168" cy="0"/>
          </a:xfrm>
          <a:prstGeom prst="line">
            <a:avLst/>
          </a:prstGeom>
          <a:noFill/>
          <a:ln w="35560">
            <a:solidFill>
              <a:srgbClr val="52D273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6739128" y="44348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F7FAFC"/>
                </a:solidFill>
              </a:rPr>
              <a:t>Ready to run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6739128" y="47457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B3C7"/>
                </a:solidFill>
              </a:rPr>
              <a:t>Código organizado, README e branch do repositório antes das 14h00.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2B3E5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653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B3C7"/>
                </a:solidFill>
              </a:rPr>
              <a:t>Portfolio Intelligence Agent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384280" y="6565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3C7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de negócio: decisão mais rápida, consistente e auditável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7"/>
                </a:solidFill>
              </a:rPr>
              <a:t>decisão orientada por objetivos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546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E3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5468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7"/>
                </a:solidFill>
              </a:rPr>
              <a:t>métricas comparáveis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2356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A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2356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7"/>
                </a:solidFill>
              </a:rPr>
              <a:t>ativos analisados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9244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D2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9244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7"/>
                </a:solidFill>
              </a:rPr>
              <a:t>explicação gerada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514600"/>
            <a:ext cx="10698480" cy="0"/>
          </a:xfrm>
          <a:prstGeom prst="line">
            <a:avLst/>
          </a:prstGeom>
          <a:noFill/>
          <a:ln w="10160">
            <a:solidFill>
              <a:srgbClr val="2B3E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17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5C"/>
                </a:solidFill>
              </a:rPr>
              <a:t>Velocidade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364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3C7"/>
                </a:solidFill>
              </a:rPr>
              <a:t>Reduz a análise manual repetitiva e acelera comparações entre ativos.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E3D4"/>
                </a:solidFill>
              </a:rPr>
              <a:t>Disciplina de risco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364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3C7"/>
                </a:solidFill>
              </a:rPr>
              <a:t>Integra volatilidade e drawdown para evitar recomendações apenas por retorno.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096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5C"/>
                </a:solidFill>
              </a:rPr>
              <a:t>Transparência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4439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3C7"/>
                </a:solidFill>
              </a:rPr>
              <a:t>Cada recomendação vem acompanhada de métricas e justificação.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4096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E3D4"/>
                </a:solidFill>
              </a:rPr>
              <a:t>Escalabilidade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44439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3C7"/>
                </a:solidFill>
              </a:rPr>
              <a:t>A arquitetura permite adicionar novos ativos, períodos e métricas.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5715000"/>
            <a:ext cx="10287000" cy="420624"/>
          </a:xfrm>
          <a:prstGeom prst="roundRect">
            <a:avLst>
              <a:gd name="adj" fmla="val 17391"/>
            </a:avLst>
          </a:prstGeom>
          <a:solidFill>
            <a:srgbClr val="FFD15C">
              <a:alpha val="92000"/>
            </a:srgbClr>
          </a:solidFill>
          <a:ln>
            <a:solidFill>
              <a:srgbClr val="FFD15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7111F"/>
                </a:solidFill>
              </a:rPr>
              <a:t>Mensagem para o júri: a solução não é só um dashboard; é um ativo estratégico para transformar dados históricos em decisões defendíveis.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2B3E5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653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B3C7"/>
                </a:solidFill>
              </a:rPr>
              <a:t>Portfolio Intelligence Agent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84280" y="6565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3C7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high_tech_digital_illust_batch_1.png"/>
          <p:cNvPicPr>
            <a:picLocks noChangeAspect="1"/>
          </p:cNvPicPr>
          <p:nvPr/>
        </p:nvPicPr>
        <p:blipFill>
          <a:blip r:embed="rId3"/>
          <a:srcRect l="12000" r="-1205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85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5C"/>
                </a:solidFill>
              </a:rPr>
              <a:t>A nossa proposta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Transformar dados históricos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decisões de investimento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explicáveis.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68096" y="384048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8B3C7"/>
                </a:solidFill>
              </a:rPr>
              <a:t>Vector Alpha </a:t>
            </a:r>
            <a:r>
              <a:rPr lang="en-US" sz="1700" dirty="0" err="1">
                <a:solidFill>
                  <a:srgbClr val="A8B3C7"/>
                </a:solidFill>
              </a:rPr>
              <a:t>combina</a:t>
            </a:r>
            <a:r>
              <a:rPr lang="en-US" sz="1700" dirty="0">
                <a:solidFill>
                  <a:srgbClr val="A8B3C7"/>
                </a:solidFill>
              </a:rPr>
              <a:t> métricas financeiras, ranking adaptativo e uma interface simples para apoiar decisões de um fundo sofisticado.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86384" y="5138928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10243D">
              <a:alpha val="96000"/>
            </a:srgbClr>
          </a:solidFill>
          <a:ln w="12700">
            <a:solidFill>
              <a:srgbClr val="FFD15C">
                <a:alpha val="50000"/>
              </a:srgbClr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7FAFC"/>
                </a:solidFill>
              </a:rPr>
              <a:t>Próximo passo: integrar dados em tempo real, backtesting e alertas automáticos.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836</Words>
  <Application>Microsoft Office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Intelligence Agent</dc:title>
  <dc:subject>EY AI Challenge 2026 Financial Agent Solution</dc:subject>
  <dc:creator>OpenAI</dc:creator>
  <cp:lastModifiedBy>José Teixeira</cp:lastModifiedBy>
  <cp:revision>2</cp:revision>
  <dcterms:created xsi:type="dcterms:W3CDTF">2026-05-20T10:34:23Z</dcterms:created>
  <dcterms:modified xsi:type="dcterms:W3CDTF">2026-05-20T13:02:42Z</dcterms:modified>
</cp:coreProperties>
</file>