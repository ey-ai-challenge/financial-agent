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5" r:id="rId3"/>
    <p:sldId id="273" r:id="rId4"/>
    <p:sldId id="275" r:id="rId5"/>
    <p:sldId id="269" r:id="rId6"/>
    <p:sldId id="276" r:id="rId7"/>
    <p:sldId id="263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E1C4A4-85C1-4421-BD12-A66BF31B6A8A}" v="1" dt="2026-05-20T12:36:04.0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571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9144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2FE"/>
                </a:solidFill>
                <a:latin typeface="Segoe UI"/>
              </a:rPr>
              <a:t>EY AI CHALLENGE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444752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 dirty="0">
                <a:solidFill>
                  <a:srgbClr val="F0F4F8"/>
                </a:solidFill>
                <a:latin typeface="Segoe UI"/>
              </a:rPr>
              <a:t>Financial Bros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2697480"/>
            <a:ext cx="3931920" cy="3657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F2FE"/>
                </a:solidFill>
                <a:latin typeface="Segoe UI"/>
              </a:rPr>
              <a:t>AI Investment Command Center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937760" y="4577360"/>
            <a:ext cx="2011680" cy="384048"/>
          </a:xfrm>
          <a:prstGeom prst="rect">
            <a:avLst/>
          </a:prstGeom>
          <a:solidFill>
            <a:srgbClr val="141928"/>
          </a:solidFill>
          <a:ln w="12700">
            <a:solidFill>
              <a:srgbClr val="0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937760" y="4604792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F2FE"/>
                </a:solidFill>
                <a:latin typeface="Segoe UI"/>
              </a:rPr>
              <a:t>TEAM-04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2FE"/>
                </a:solidFill>
                <a:latin typeface="Segoe UI"/>
              </a:rPr>
              <a:t>O DESAFIO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8"/>
                </a:solidFill>
                <a:latin typeface="Segoe UI"/>
              </a:rPr>
              <a:t>Contexto e Objetivo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0" cy="3657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2FE"/>
                </a:solidFill>
                <a:latin typeface="Segoe UI"/>
              </a:rPr>
              <a:t>O Fundo de Investimento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21992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Segoe UI"/>
              </a:rPr>
              <a:t>Portfolio de 11 ativos (stocks + criptomoedas)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60904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54203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Segoe UI"/>
              </a:rPr>
              <a:t>Stocks: AAPL, AMZN, GOOGL, MSFT, SPY, NXE, UDMY...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99816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98094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Segoe UI"/>
              </a:rPr>
              <a:t>Criptomoedas: BTC-USD, ETH-USD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38728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4198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Segoe UI"/>
              </a:rPr>
              <a:t>Dados historicos diarios via Yahoo Finance (1 ano)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84048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2FE"/>
                </a:solidFill>
                <a:latin typeface="Segoe UI"/>
              </a:rPr>
              <a:t>A Missão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370832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Segoe UI"/>
              </a:rPr>
              <a:t>Criar plataforma de suporte a decisoes com IA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09744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6908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0F4F8"/>
                </a:solidFill>
                <a:latin typeface="Segoe UI"/>
              </a:rPr>
              <a:t>Demonstrar valor de negocio mensuravel para o fundo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600200"/>
            <a:ext cx="5212080" cy="466344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0" y="175564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F4F8"/>
                </a:solidFill>
                <a:latin typeface="Segoe UI"/>
              </a:rPr>
              <a:t>11 Ativos Monitorizados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2130552"/>
            <a:ext cx="4754880" cy="3657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675120" y="2468880"/>
            <a:ext cx="1280160" cy="329184"/>
          </a:xfrm>
          <a:prstGeom prst="rect">
            <a:avLst/>
          </a:prstGeom>
          <a:solidFill>
            <a:srgbClr val="1A2035"/>
          </a:solidFill>
          <a:ln w="12700">
            <a:solidFill>
              <a:srgbClr val="0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75120" y="25054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2FE"/>
                </a:solidFill>
                <a:latin typeface="Segoe UI"/>
              </a:rPr>
              <a:t>AAPL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468880"/>
            <a:ext cx="1280160" cy="329184"/>
          </a:xfrm>
          <a:prstGeom prst="rect">
            <a:avLst/>
          </a:prstGeom>
          <a:solidFill>
            <a:srgbClr val="1A2035"/>
          </a:solidFill>
          <a:ln w="12700">
            <a:solidFill>
              <a:srgbClr val="0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600" y="25054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2FE"/>
                </a:solidFill>
                <a:latin typeface="Segoe UI"/>
              </a:rPr>
              <a:t>AMZN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92640" y="2468880"/>
            <a:ext cx="1280160" cy="329184"/>
          </a:xfrm>
          <a:prstGeom prst="rect">
            <a:avLst/>
          </a:prstGeom>
          <a:solidFill>
            <a:srgbClr val="1A2035"/>
          </a:solidFill>
          <a:ln w="12700">
            <a:solidFill>
              <a:srgbClr val="0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92640" y="250545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2FE"/>
                </a:solidFill>
                <a:latin typeface="Segoe UI"/>
              </a:rPr>
              <a:t>GOOGL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75120" y="2980944"/>
            <a:ext cx="1280160" cy="329184"/>
          </a:xfrm>
          <a:prstGeom prst="rect">
            <a:avLst/>
          </a:prstGeom>
          <a:solidFill>
            <a:srgbClr val="1A2035"/>
          </a:solidFill>
          <a:ln w="12700">
            <a:solidFill>
              <a:srgbClr val="0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2FE"/>
                </a:solidFill>
                <a:latin typeface="Segoe UI"/>
              </a:rPr>
              <a:t>MSFT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980944"/>
            <a:ext cx="1280160" cy="329184"/>
          </a:xfrm>
          <a:prstGeom prst="rect">
            <a:avLst/>
          </a:prstGeom>
          <a:solidFill>
            <a:srgbClr val="1A2035"/>
          </a:solidFill>
          <a:ln w="12700">
            <a:solidFill>
              <a:srgbClr val="0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2960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2FE"/>
                </a:solidFill>
                <a:latin typeface="Segoe UI"/>
              </a:rPr>
              <a:t>UDMY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92640" y="2980944"/>
            <a:ext cx="1280160" cy="329184"/>
          </a:xfrm>
          <a:prstGeom prst="rect">
            <a:avLst/>
          </a:prstGeom>
          <a:solidFill>
            <a:srgbClr val="1A2035"/>
          </a:solidFill>
          <a:ln w="12700">
            <a:solidFill>
              <a:srgbClr val="0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92640" y="30175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2FE"/>
                </a:solidFill>
                <a:latin typeface="Segoe UI"/>
              </a:rPr>
              <a:t>NXE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493008"/>
            <a:ext cx="1280160" cy="329184"/>
          </a:xfrm>
          <a:prstGeom prst="rect">
            <a:avLst/>
          </a:prstGeom>
          <a:solidFill>
            <a:srgbClr val="1A2035"/>
          </a:solidFill>
          <a:ln w="12700">
            <a:solidFill>
              <a:srgbClr val="0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675120" y="35295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2FE"/>
                </a:solidFill>
                <a:latin typeface="Segoe UI"/>
              </a:rPr>
              <a:t>SPY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3493008"/>
            <a:ext cx="1280160" cy="329184"/>
          </a:xfrm>
          <a:prstGeom prst="rect">
            <a:avLst/>
          </a:prstGeom>
          <a:solidFill>
            <a:srgbClr val="1A2035"/>
          </a:solidFill>
          <a:ln w="12700">
            <a:solidFill>
              <a:srgbClr val="0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29600" y="35295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2FE"/>
                </a:solidFill>
                <a:latin typeface="Segoe UI"/>
              </a:rPr>
              <a:t>CDR.WA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92640" y="3493008"/>
            <a:ext cx="1280160" cy="329184"/>
          </a:xfrm>
          <a:prstGeom prst="rect">
            <a:avLst/>
          </a:prstGeom>
          <a:solidFill>
            <a:srgbClr val="1A2035"/>
          </a:solidFill>
          <a:ln w="12700">
            <a:solidFill>
              <a:srgbClr val="0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92640" y="35295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2FE"/>
                </a:solidFill>
                <a:latin typeface="Segoe UI"/>
              </a:rPr>
              <a:t>EH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4005072"/>
            <a:ext cx="1280160" cy="329184"/>
          </a:xfrm>
          <a:prstGeom prst="rect">
            <a:avLst/>
          </a:prstGeom>
          <a:solidFill>
            <a:srgbClr val="1A2035"/>
          </a:solidFill>
          <a:ln w="12700">
            <a:solidFill>
              <a:srgbClr val="0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0" y="4041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2FE"/>
                </a:solidFill>
                <a:latin typeface="Segoe UI"/>
              </a:rPr>
              <a:t>BTC-USD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4005072"/>
            <a:ext cx="1280160" cy="329184"/>
          </a:xfrm>
          <a:prstGeom prst="rect">
            <a:avLst/>
          </a:prstGeom>
          <a:solidFill>
            <a:srgbClr val="1A2035"/>
          </a:solidFill>
          <a:ln w="12700">
            <a:solidFill>
              <a:srgbClr val="007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229600" y="4041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F2FE"/>
                </a:solidFill>
                <a:latin typeface="Segoe UI"/>
              </a:rPr>
              <a:t>ETH-USD</a:t>
            </a:r>
          </a:p>
        </p:txBody>
      </p:sp>
    </p:spTree>
    <p:extLst>
      <p:ext uri="{BB962C8B-B14F-4D97-AF65-F5344CB8AC3E}">
        <p14:creationId xmlns:p14="http://schemas.microsoft.com/office/powerpoint/2010/main" val="555605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2FE"/>
                </a:solidFill>
                <a:latin typeface="Segoe UI"/>
              </a:rPr>
              <a:t>A SOLUCAO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8"/>
                </a:solidFill>
                <a:latin typeface="Segoe UI"/>
              </a:rPr>
              <a:t>O que construimos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47453"/>
            <a:ext cx="4572000" cy="3657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920240"/>
            <a:ext cx="2743200" cy="4114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2743200" cy="54864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ACFE"/>
                </a:solidFill>
                <a:latin typeface="Segoe UI"/>
              </a:rPr>
              <a:t>Dashboard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14600"/>
            <a:ext cx="2468880" cy="36576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26517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Graficos de performance
Sinais BUY/SELL/HOLD
Filtros e confidence bars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1920240"/>
            <a:ext cx="2743200" cy="4114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91840" y="1920240"/>
            <a:ext cx="27432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2900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Segoe UI"/>
              </a:rPr>
              <a:t>AI Chat Agent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9000" y="2514600"/>
            <a:ext cx="24688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29000" y="2651760"/>
            <a:ext cx="24688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94A3B8"/>
                </a:solidFill>
                <a:latin typeface="Segoe UI"/>
              </a:rPr>
              <a:t>Chat </a:t>
            </a:r>
            <a:r>
              <a:rPr sz="1200" b="0" i="0" dirty="0" err="1">
                <a:solidFill>
                  <a:srgbClr val="94A3B8"/>
                </a:solidFill>
                <a:latin typeface="Segoe UI"/>
              </a:rPr>
              <a:t>dedicado</a:t>
            </a:r>
            <a:r>
              <a:rPr sz="1200" b="0" i="0" dirty="0">
                <a:solidFill>
                  <a:srgbClr val="94A3B8"/>
                </a:solidFill>
                <a:latin typeface="Segoe UI"/>
              </a:rPr>
              <a:t> com LLM local
</a:t>
            </a:r>
            <a:r>
              <a:rPr sz="1200" b="0" i="0" dirty="0" err="1">
                <a:solidFill>
                  <a:srgbClr val="94A3B8"/>
                </a:solidFill>
                <a:latin typeface="Segoe UI"/>
              </a:rPr>
              <a:t>Contexto</a:t>
            </a:r>
            <a:r>
              <a:rPr sz="1200" b="0" i="0" dirty="0">
                <a:solidFill>
                  <a:srgbClr val="94A3B8"/>
                </a:solidFill>
                <a:latin typeface="Segoe UI"/>
              </a:rPr>
              <a:t> real do portfolio
</a:t>
            </a:r>
            <a:r>
              <a:rPr sz="1200" b="0" i="0" dirty="0" err="1">
                <a:solidFill>
                  <a:srgbClr val="94A3B8"/>
                </a:solidFill>
                <a:latin typeface="Segoe UI"/>
              </a:rPr>
              <a:t>Ollama</a:t>
            </a:r>
            <a:r>
              <a:rPr sz="1200" b="0" i="0" dirty="0">
                <a:solidFill>
                  <a:srgbClr val="94A3B8"/>
                </a:solidFill>
                <a:latin typeface="Segoe UI"/>
              </a:rPr>
              <a:t> llama3 </a:t>
            </a:r>
            <a:r>
              <a:rPr sz="1200" b="0" i="0" dirty="0" err="1">
                <a:solidFill>
                  <a:srgbClr val="94A3B8"/>
                </a:solidFill>
                <a:latin typeface="Segoe UI"/>
              </a:rPr>
              <a:t>sem</a:t>
            </a:r>
            <a:r>
              <a:rPr sz="1200" b="0" i="0" dirty="0">
                <a:solidFill>
                  <a:srgbClr val="94A3B8"/>
                </a:solidFill>
                <a:latin typeface="Segoe UI"/>
              </a:rPr>
              <a:t> API externa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920240"/>
            <a:ext cx="2743200" cy="4114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920240"/>
            <a:ext cx="2743200" cy="54864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5508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2FE"/>
                </a:solidFill>
                <a:latin typeface="Segoe UI"/>
              </a:rPr>
              <a:t>Market News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2514600"/>
            <a:ext cx="2468880" cy="3657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26517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Feed de noticias financeiras
Inteligencia de mercado
Contexto macro para decisoes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920240"/>
            <a:ext cx="2743200" cy="41148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44000" y="1920240"/>
            <a:ext cx="27432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81160" y="21031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Segoe UI"/>
              </a:rPr>
              <a:t>Gestão de Portfolio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2514600"/>
            <a:ext cx="24688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81160" y="2651760"/>
            <a:ext cx="2468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Adicionar e remover ativos
Calculo de valor total
Insight de exposicao a risco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263640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Segoe UI"/>
              </a:rPr>
              <a:t>Stack: FastAPI  .  Ollama llama3 (local)  .  Chart.js  .  Python  .  Vanilla JS</a:t>
            </a:r>
          </a:p>
        </p:txBody>
      </p:sp>
    </p:spTree>
    <p:extLst>
      <p:ext uri="{BB962C8B-B14F-4D97-AF65-F5344CB8AC3E}">
        <p14:creationId xmlns:p14="http://schemas.microsoft.com/office/powerpoint/2010/main" val="3693193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2FE"/>
                </a:solidFill>
                <a:latin typeface="Segoe UI"/>
              </a:rPr>
              <a:t>DESTAQUE TECNICO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 err="1">
                <a:solidFill>
                  <a:srgbClr val="F0F4F8"/>
                </a:solidFill>
                <a:latin typeface="Segoe UI"/>
              </a:rPr>
              <a:t>Ollama</a:t>
            </a:r>
            <a:r>
              <a:rPr sz="3400" b="1" i="0" dirty="0">
                <a:solidFill>
                  <a:srgbClr val="F0F4F8"/>
                </a:solidFill>
                <a:latin typeface="Segoe UI"/>
              </a:rPr>
              <a:t>: IA Local e Privada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4572000" cy="3657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F2FE"/>
                </a:solidFill>
                <a:latin typeface="Segoe UI"/>
              </a:rPr>
              <a:t>Porquê IA Local?</a:t>
            </a:r>
          </a:p>
        </p:txBody>
      </p:sp>
      <p:sp>
        <p:nvSpPr>
          <p:cNvPr id="7" name="Rectangle 6"/>
          <p:cNvSpPr/>
          <p:nvPr/>
        </p:nvSpPr>
        <p:spPr>
          <a:xfrm>
            <a:off x="553212" y="2558849"/>
            <a:ext cx="5029200" cy="658368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3212" y="2558849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" y="261371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Privacidade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380" y="2888033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Dados do fundo nunca saem do servidor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" y="3381809"/>
            <a:ext cx="5029200" cy="658368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53212" y="3381809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" y="343667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Sem custos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" y="3710993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Sem limites de API nem faturas por chamada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" y="4204769"/>
            <a:ext cx="5029200" cy="658368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3212" y="4204769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4380" y="425963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Velocidade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" y="4533953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Inferencia local sem latencia de rede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3212" y="5027729"/>
            <a:ext cx="5029200" cy="658368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53212" y="5027729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" y="5082593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Segoe UI"/>
              </a:rPr>
              <a:t>Controlo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80" y="5356913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Segoe UI"/>
              </a:rPr>
              <a:t>Modelo configuravel: temperatura, tokens, modelo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600200"/>
            <a:ext cx="5303520" cy="493776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2011680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F2FE"/>
                </a:solidFill>
                <a:latin typeface="Segoe UI"/>
              </a:rPr>
              <a:t>AI Chat: Advisor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2377440"/>
            <a:ext cx="4846320" cy="3657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8001000" y="2542032"/>
            <a:ext cx="3474720" cy="475488"/>
          </a:xfrm>
          <a:prstGeom prst="rect">
            <a:avLst/>
          </a:prstGeom>
          <a:solidFill>
            <a:srgbClr val="003A50"/>
          </a:solidFill>
          <a:ln w="12700">
            <a:solidFill>
              <a:srgbClr val="00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92440" y="257860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0F4F8"/>
                </a:solidFill>
                <a:latin typeface="Segoe UI"/>
              </a:rPr>
              <a:t>Which asset has the strongest buy signal?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136392"/>
            <a:ext cx="3474720" cy="1024127"/>
          </a:xfrm>
          <a:prstGeom prst="rect">
            <a:avLst/>
          </a:prstGeom>
          <a:solidFill>
            <a:srgbClr val="1A2035"/>
          </a:solidFill>
          <a:ln w="12700">
            <a:solidFill>
              <a:srgbClr val="2A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675120" y="3172968"/>
            <a:ext cx="329184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0F4F8"/>
                </a:solidFill>
                <a:latin typeface="Segoe UI"/>
              </a:rPr>
              <a:t>AAPL currently shows the strongest BUY signal with 85% confidence. The 20-day SMA crossed above the 50-day SMA, indicating strong bullish momentum.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01000" y="4279391"/>
            <a:ext cx="3474720" cy="475488"/>
          </a:xfrm>
          <a:prstGeom prst="rect">
            <a:avLst/>
          </a:prstGeom>
          <a:solidFill>
            <a:srgbClr val="003A50"/>
          </a:solidFill>
          <a:ln w="12700">
            <a:solidFill>
              <a:srgbClr val="00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4315967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0F4F8"/>
                </a:solidFill>
                <a:latin typeface="Segoe UI"/>
              </a:rPr>
              <a:t>Any crypto risk I should know about?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4873751"/>
            <a:ext cx="3474720" cy="1024127"/>
          </a:xfrm>
          <a:prstGeom prst="rect">
            <a:avLst/>
          </a:prstGeom>
          <a:solidFill>
            <a:srgbClr val="1A2035"/>
          </a:solidFill>
          <a:ln w="12700">
            <a:solidFill>
              <a:srgbClr val="2A30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0" y="4910327"/>
            <a:ext cx="329184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F0F4F8"/>
                </a:solidFill>
                <a:latin typeface="Segoe UI"/>
              </a:rPr>
              <a:t>BTC-USD and ETH-USD both show SELL signals. I recommend reducing exposure or setting stop-losses given the current bearish crossover.</a:t>
            </a:r>
          </a:p>
        </p:txBody>
      </p:sp>
    </p:spTree>
    <p:extLst>
      <p:ext uri="{BB962C8B-B14F-4D97-AF65-F5344CB8AC3E}">
        <p14:creationId xmlns:p14="http://schemas.microsoft.com/office/powerpoint/2010/main" val="3922377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2FE"/>
                </a:solidFill>
                <a:latin typeface="Segoe UI"/>
              </a:rPr>
              <a:t>FUNCIONALIDADES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0F4F8"/>
                </a:solidFill>
                <a:latin typeface="Segoe UI"/>
              </a:rPr>
              <a:t>Dashboard e Análise Técnica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0" cy="3657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3716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560320" cy="4572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933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F2FE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Assets
Monitored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560320" cy="13716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5603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9933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0B981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Buy
Signals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560320" cy="13716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256032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9933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EF4444"/>
                </a:solidFill>
                <a:latin typeface="Sego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Sell
Signals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828800"/>
            <a:ext cx="2560320" cy="137160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1828800"/>
            <a:ext cx="25603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1993392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59E0B"/>
                </a:solidFill>
                <a:latin typeface="Sego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Segoe UI"/>
              </a:rPr>
              <a:t>Hold
Signals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290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2FE"/>
                </a:solidFill>
                <a:latin typeface="Segoe UI"/>
              </a:rPr>
              <a:t>Funcionalidades do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977640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8587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Segoe UI"/>
              </a:rPr>
              <a:t>Graficos Chart.js com overlay SMA-20 e SMA-50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16552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2976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Segoe UI"/>
              </a:rPr>
              <a:t>Filtros de sinal: ALL / BUY / SELL / HOLD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55464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7365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Segoe UI"/>
              </a:rPr>
              <a:t>Confidence bars por ativo na tabela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94376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1755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Segoe UI"/>
              </a:rPr>
              <a:t>Relogio em tempo real no topbar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4290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2FE"/>
                </a:solidFill>
                <a:latin typeface="Segoe UI"/>
              </a:rPr>
              <a:t>Análise Técnica (SMA Crossover)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977640"/>
            <a:ext cx="91440" cy="9144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0" y="38587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Segoe UI"/>
              </a:rPr>
              <a:t>SMA-20 cruza acima SMA-50 → BUY (85% conf.)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416552"/>
            <a:ext cx="91440" cy="9144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83680" y="4297680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Segoe UI"/>
              </a:rPr>
              <a:t>SMA-20 cruza abaixo SMA-50 → SELL (85% conf.)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4855464"/>
            <a:ext cx="91440" cy="9144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0" y="473659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Segoe UI"/>
              </a:rPr>
              <a:t>Tendencia continua → BUY / SELL (60% conf.)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5294376"/>
            <a:ext cx="91440" cy="91440"/>
          </a:xfrm>
          <a:prstGeom prst="rect">
            <a:avLst/>
          </a:prstGeom>
          <a:solidFill>
            <a:srgbClr val="4F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83680" y="5175504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Segoe UI"/>
              </a:rPr>
              <a:t>Sem tendencia clara → HOLD (50% conf.)</a:t>
            </a:r>
          </a:p>
        </p:txBody>
      </p:sp>
    </p:spTree>
    <p:extLst>
      <p:ext uri="{BB962C8B-B14F-4D97-AF65-F5344CB8AC3E}">
        <p14:creationId xmlns:p14="http://schemas.microsoft.com/office/powerpoint/2010/main" val="2292935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4747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F2FE"/>
                </a:solidFill>
                <a:latin typeface="Segoe UI"/>
              </a:rPr>
              <a:t>IMPACTO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F0F4F8"/>
                </a:solidFill>
                <a:latin typeface="Segoe UI"/>
              </a:rPr>
              <a:t>Valor de Neg</a:t>
            </a:r>
            <a:r>
              <a:rPr lang="pt-PT" sz="3400" b="1" i="0" dirty="0">
                <a:solidFill>
                  <a:srgbClr val="F0F4F8"/>
                </a:solidFill>
                <a:latin typeface="Segoe UI"/>
              </a:rPr>
              <a:t>ó</a:t>
            </a:r>
            <a:r>
              <a:rPr sz="3400" b="1" i="0" dirty="0" err="1">
                <a:solidFill>
                  <a:srgbClr val="F0F4F8"/>
                </a:solidFill>
                <a:latin typeface="Segoe UI"/>
              </a:rPr>
              <a:t>cio</a:t>
            </a:r>
            <a:endParaRPr sz="3400" b="1" i="0" dirty="0">
              <a:solidFill>
                <a:srgbClr val="F0F4F8"/>
              </a:solidFill>
              <a:latin typeface="Segoe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4572000" cy="3657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2560320" cy="14173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25603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75104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0B981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Ativos
Monitorizados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828800"/>
            <a:ext cx="2560320" cy="14173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91840" y="1828800"/>
            <a:ext cx="2560320" cy="4572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40" y="1975104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F2FE"/>
                </a:solidFill>
                <a:latin typeface="Segoe UI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Views
na Plataforma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2560320" cy="14173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828800"/>
            <a:ext cx="2560320" cy="45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0" y="1975104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78BFA"/>
                </a:solidFill>
                <a:latin typeface="Segoe UI"/>
              </a:rPr>
              <a:t>Local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LLM
Sem API costs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61120" y="1828800"/>
            <a:ext cx="2560320" cy="1417320"/>
          </a:xfrm>
          <a:prstGeom prst="rect">
            <a:avLst/>
          </a:prstGeom>
          <a:solidFill>
            <a:srgbClr val="1419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61120" y="1828800"/>
            <a:ext cx="256032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961120" y="1975104"/>
            <a:ext cx="2560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59E0B"/>
                </a:solidFill>
                <a:latin typeface="Segoe UI"/>
              </a:rPr>
              <a:t>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57860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Segoe UI"/>
              </a:rPr>
              <a:t>Perguntas ao
Chat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474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F2FE"/>
                </a:solidFill>
                <a:latin typeface="Segoe UI"/>
              </a:rPr>
              <a:t>Valor de Negócio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032504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91363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0F4F8"/>
                </a:solidFill>
                <a:latin typeface="Segoe UI"/>
              </a:rPr>
              <a:t>IA local: privacidade total, sem custos de API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71416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352544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F0F4F8"/>
                </a:solidFill>
                <a:latin typeface="Segoe UI"/>
              </a:rPr>
              <a:t>Sinais</a:t>
            </a:r>
            <a:r>
              <a:rPr sz="1300" b="0" i="0" dirty="0">
                <a:solidFill>
                  <a:srgbClr val="F0F4F8"/>
                </a:solidFill>
                <a:latin typeface="Segoe UI"/>
              </a:rPr>
              <a:t> para 11 </a:t>
            </a:r>
            <a:r>
              <a:rPr sz="1300" b="0" i="0" dirty="0" err="1">
                <a:solidFill>
                  <a:srgbClr val="F0F4F8"/>
                </a:solidFill>
                <a:latin typeface="Segoe UI"/>
              </a:rPr>
              <a:t>ativos</a:t>
            </a:r>
            <a:r>
              <a:rPr sz="1300" b="0" i="0" dirty="0">
                <a:solidFill>
                  <a:srgbClr val="F0F4F8"/>
                </a:solidFill>
                <a:latin typeface="Segoe UI"/>
              </a:rPr>
              <a:t> em </a:t>
            </a:r>
            <a:r>
              <a:rPr sz="1300" b="0" i="0" dirty="0" err="1">
                <a:solidFill>
                  <a:srgbClr val="F0F4F8"/>
                </a:solidFill>
                <a:latin typeface="Segoe UI"/>
              </a:rPr>
              <a:t>segundos</a:t>
            </a:r>
            <a:endParaRPr sz="1300" b="0" i="0" dirty="0">
              <a:solidFill>
                <a:srgbClr val="F0F4F8"/>
              </a:solidFill>
              <a:latin typeface="Segoe UI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4910328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791456"/>
            <a:ext cx="51206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0F4F8"/>
                </a:solidFill>
                <a:latin typeface="Segoe UI"/>
              </a:rPr>
              <a:t>Chat em </a:t>
            </a:r>
            <a:r>
              <a:rPr sz="1300" b="0" i="0" dirty="0" err="1">
                <a:solidFill>
                  <a:srgbClr val="F0F4F8"/>
                </a:solidFill>
                <a:latin typeface="Segoe UI"/>
              </a:rPr>
              <a:t>linguagem</a:t>
            </a:r>
            <a:r>
              <a:rPr sz="1300" b="0" i="0" dirty="0">
                <a:solidFill>
                  <a:srgbClr val="F0F4F8"/>
                </a:solidFill>
                <a:latin typeface="Segoe UI"/>
              </a:rPr>
              <a:t> natural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349240"/>
            <a:ext cx="91440" cy="91440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23036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F0F4F8"/>
                </a:solidFill>
                <a:latin typeface="Segoe UI"/>
              </a:rPr>
              <a:t>Market News </a:t>
            </a:r>
            <a:r>
              <a:rPr sz="1300" b="0" i="0" dirty="0" err="1">
                <a:solidFill>
                  <a:srgbClr val="F0F4F8"/>
                </a:solidFill>
                <a:latin typeface="Segoe UI"/>
              </a:rPr>
              <a:t>integrado</a:t>
            </a:r>
            <a:r>
              <a:rPr sz="1300" b="0" i="0" dirty="0">
                <a:solidFill>
                  <a:srgbClr val="F0F4F8"/>
                </a:solidFill>
                <a:latin typeface="Segoe UI"/>
              </a:rPr>
              <a:t> para </a:t>
            </a:r>
            <a:r>
              <a:rPr sz="1300" b="0" i="0" dirty="0" err="1">
                <a:solidFill>
                  <a:srgbClr val="F0F4F8"/>
                </a:solidFill>
                <a:latin typeface="Segoe UI"/>
              </a:rPr>
              <a:t>contexto</a:t>
            </a:r>
            <a:r>
              <a:rPr sz="1300" b="0" i="0" dirty="0">
                <a:solidFill>
                  <a:srgbClr val="F0F4F8"/>
                </a:solidFill>
                <a:latin typeface="Segoe UI"/>
              </a:rPr>
              <a:t> macro</a:t>
            </a:r>
          </a:p>
        </p:txBody>
      </p:sp>
    </p:spTree>
    <p:extLst>
      <p:ext uri="{BB962C8B-B14F-4D97-AF65-F5344CB8AC3E}">
        <p14:creationId xmlns:p14="http://schemas.microsoft.com/office/powerpoint/2010/main" val="2451346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A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1737360"/>
            <a:ext cx="100584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0F4F8"/>
                </a:solidFill>
                <a:latin typeface="Segoe UI"/>
              </a:rPr>
              <a:t>Financial Bros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2880360"/>
            <a:ext cx="3931920" cy="36576"/>
          </a:xfrm>
          <a:prstGeom prst="rect">
            <a:avLst/>
          </a:prstGeom>
          <a:solidFill>
            <a:srgbClr val="0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090672"/>
            <a:ext cx="100584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00F2FE"/>
                </a:solidFill>
                <a:latin typeface="Segoe UI"/>
              </a:rPr>
              <a:t>Obrigado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  <a:latin typeface="Segoe UI"/>
              </a:rPr>
              <a:t>EY AI Challenge 2026  .  Team-04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DFAE335-C107-4AEA-B52F-2AF628B42C97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f7b79cc9-d744-4d2e-a3eb-076f9e86eee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470</Words>
  <Application>Microsoft Office PowerPoint</Application>
  <PresentationFormat>Personalizados</PresentationFormat>
  <Paragraphs>91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1" baseType="lpstr">
      <vt:lpstr>Arial</vt:lpstr>
      <vt:lpstr>Calibri</vt:lpstr>
      <vt:lpstr>Segoe UI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Francisco Liquito</dc:creator>
  <cp:keywords/>
  <dc:description>generated using python-pptx</dc:description>
  <cp:lastModifiedBy>Francisco Liquito</cp:lastModifiedBy>
  <cp:revision>2</cp:revision>
  <dcterms:created xsi:type="dcterms:W3CDTF">2013-01-27T09:14:16Z</dcterms:created>
  <dcterms:modified xsi:type="dcterms:W3CDTF">2026-05-20T12:55:59Z</dcterms:modified>
  <cp:category/>
</cp:coreProperties>
</file>